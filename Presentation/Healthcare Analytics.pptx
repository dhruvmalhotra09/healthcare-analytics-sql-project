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6"/>
  </p:notesMasterIdLst>
  <p:sldIdLst>
    <p:sldId id="256" r:id="rId2"/>
    <p:sldId id="276" r:id="rId3"/>
    <p:sldId id="257" r:id="rId4"/>
    <p:sldId id="260" r:id="rId5"/>
    <p:sldId id="262" r:id="rId6"/>
    <p:sldId id="264" r:id="rId7"/>
    <p:sldId id="265" r:id="rId8"/>
    <p:sldId id="266" r:id="rId9"/>
    <p:sldId id="275" r:id="rId10"/>
    <p:sldId id="269" r:id="rId11"/>
    <p:sldId id="270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7BB0C-6A25-49AD-9EEE-50BE2D45404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50279-B1D6-4E24-AD09-F1E608EB0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76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50279-B1D6-4E24-AD09-F1E608EB0D3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910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961C5-ECF5-3A08-1504-E701BE75C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384A7-4926-C033-4C00-57BE2DBBE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653FC-F835-A003-3A9B-48FE74782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1F4E9-7675-9CF8-3892-069E397C1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50279-B1D6-4E24-AD09-F1E608EB0D3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841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E75FC-EA4B-C559-FF4C-DF3941A2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12874-B45F-D7C0-0CDC-E2FB5A2F0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C33E1-F61E-1B46-559E-8CD09F334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71CBD-D9A6-5F6A-182E-879AFD64F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50279-B1D6-4E24-AD09-F1E608EB0D3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628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1101C-D984-AD43-5B5A-4BB829E3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891F5-FCDD-E0B6-5EE7-4DEC4E993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62B94-8A9D-FC88-7012-B0AFF753C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A23E3-B29C-2927-523E-9C974791F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50279-B1D6-4E24-AD09-F1E608EB0D3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604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2207D-5434-EC25-0FED-EB7A554D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ADFAB-D430-E67C-0738-815853FBB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31787-DCC9-E1CD-A58A-C5996BE83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E6087-078F-27C3-F55D-3FDFA9151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50279-B1D6-4E24-AD09-F1E608EB0D3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409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C308-B3E3-BCE5-FA82-E29A5436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D50CC-6B46-1FAC-89CD-301F4B468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A315A-7BD3-3373-CDF6-969A5C1B1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F7D61-B4EE-3482-BD41-32585FD04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50279-B1D6-4E24-AD09-F1E608EB0D3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111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CD20E-5F04-5981-141E-0F3EE388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14867-4217-7744-D798-D7961C8F4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B9E0C-3251-96EA-DF01-C7DF4C806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FD9A6-03DD-934F-F2EA-E694EC053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50279-B1D6-4E24-AD09-F1E608EB0D3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396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35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57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578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171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0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15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43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35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14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61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43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1565A36-94C3-4228-B070-9CED69240FB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B1A9EA7-0193-4D93-B52E-A22AF63218E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5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8C3E-7876-9ABC-87EF-F7909D231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Analytics</a:t>
            </a:r>
            <a:r>
              <a:rPr lang="en-IN" b="1" dirty="0"/>
              <a:t> 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63FEE-3F60-E515-6A73-5EAF5F7A56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healthcare data to extract meaningful insights using advanced SQL queries.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087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57A0F-3AFC-A065-4E2D-16F71F9E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CA16D-EE35-E87E-AD08-51EFEE0BC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74273"/>
            <a:ext cx="9720073" cy="4572000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Completed Appointments Overview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Patients Without Appointments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3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Diagnoses per Doctor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4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Appointment–Diagnosis Mismatches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5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Ranking Patients by Appointments per Doctor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6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Patient Age Group Segmentation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7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String Function Use: Contact Pattern Search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8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Patients Prescribed Insulin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9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Average Medication Duration per Diagnosis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10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Doctor with Highest Unique Patient Reach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Summary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Key Insights &amp; Recommendations</a:t>
            </a: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267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CC52-9178-2FA0-403F-D4858C31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46" y="932673"/>
            <a:ext cx="9720072" cy="7065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 – Completed Appointments Overview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EE29B-BA58-61EB-D536-357BB6F90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47" y="1984663"/>
            <a:ext cx="11735908" cy="1087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Objective: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retrieve details of all completed appointments, including the patient's name, the doctor's name, and their specialization.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805B3-1AF2-A5E8-2339-80842AFB6775}"/>
              </a:ext>
            </a:extLst>
          </p:cNvPr>
          <p:cNvSpPr txBox="1"/>
          <p:nvPr/>
        </p:nvSpPr>
        <p:spPr>
          <a:xfrm>
            <a:off x="317547" y="3129914"/>
            <a:ext cx="11309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Key Insight: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3,392 out of 10,000 appointments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marked as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giving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completion rate of ~34%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not critically low, this still indicates scope to improve patient adherence and reduce missed/cancelled appointments.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phic 5" descr="Target Audience outline">
            <a:extLst>
              <a:ext uri="{FF2B5EF4-FFF2-40B4-BE49-F238E27FC236}">
                <a16:creationId xmlns:a16="http://schemas.microsoft.com/office/drawing/2014/main" id="{C64F8D75-5FFB-BA29-57DC-2FF070FF3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47" y="1984663"/>
            <a:ext cx="297873" cy="297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F8456C-D4E6-263B-CBE6-A78266C0B33B}"/>
              </a:ext>
            </a:extLst>
          </p:cNvPr>
          <p:cNvSpPr txBox="1"/>
          <p:nvPr/>
        </p:nvSpPr>
        <p:spPr>
          <a:xfrm>
            <a:off x="317547" y="4819287"/>
            <a:ext cx="115569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Recommendation: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reminder &amp; follow-up systems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(SMS, calls, app notifications) to further improve completion rates.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no-show / cancellation patterns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(time slots, days, or specializations) to address scheduling or operational gaps.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9528E5D4-DE29-8991-7C52-B4DD2027F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547" y="4926865"/>
            <a:ext cx="273627" cy="2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61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24C2-17AB-7A19-D39F-7A8E1677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07870-D339-BC04-6AD0-D8EB8282D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46" y="932673"/>
            <a:ext cx="9720072" cy="7065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 – 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PATIENTS WITHOUT APPOINTMENTS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71FF0-E7F1-BDFD-F9D9-F3CEA2FF1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47" y="1984663"/>
            <a:ext cx="11735908" cy="1087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Objective: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patients who have never scheduled an appointment. Retrieve their name, contact details, and address for follow-up or engagement.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DA216-CD7B-2A13-84A7-C5A8E3E5E8CA}"/>
              </a:ext>
            </a:extLst>
          </p:cNvPr>
          <p:cNvSpPr txBox="1"/>
          <p:nvPr/>
        </p:nvSpPr>
        <p:spPr>
          <a:xfrm>
            <a:off x="317547" y="3263278"/>
            <a:ext cx="11309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Key Insight: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662 registered patients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never booked an appointment.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indicates a gap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engagement and onboarding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particularly for preventive and early care.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phic 5" descr="Target Audience outline">
            <a:extLst>
              <a:ext uri="{FF2B5EF4-FFF2-40B4-BE49-F238E27FC236}">
                <a16:creationId xmlns:a16="http://schemas.microsoft.com/office/drawing/2014/main" id="{2F7958F8-8018-95FB-5FA3-1F1F2C684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47" y="1984663"/>
            <a:ext cx="297873" cy="297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119CC9-51F4-9671-1603-C27D3F8791DE}"/>
              </a:ext>
            </a:extLst>
          </p:cNvPr>
          <p:cNvSpPr txBox="1"/>
          <p:nvPr/>
        </p:nvSpPr>
        <p:spPr>
          <a:xfrm>
            <a:off x="317547" y="4778237"/>
            <a:ext cx="113098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Recommendation: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targeted communication campaigns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(SMS, calls, or emails) to encourage these patients to book appointments.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reasons for inactivity — e.g.,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accessibility issues, awareness gaps, or satisfaction concerns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offering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incentives or first-time check-up discounts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increase engagement.</a:t>
            </a:r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00425566-3372-514A-E80D-7EE6FB715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547" y="4864520"/>
            <a:ext cx="273627" cy="2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04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E773B-C771-9B49-23B5-CA266287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AA46-57C6-3BE7-5BC0-CC0819245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46" y="932673"/>
            <a:ext cx="9720072" cy="7065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3 – 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DOCTOR-WISE DIAGNOSIS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9C0E-5BF2-4374-139D-D55B91A3A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47" y="1984663"/>
            <a:ext cx="11735908" cy="1087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Objective: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determine the total number of diagnoses handled by each doctor, including those with no diagnosis records.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F833C-33D1-A9D5-551B-B712D6DF2A9A}"/>
              </a:ext>
            </a:extLst>
          </p:cNvPr>
          <p:cNvSpPr txBox="1"/>
          <p:nvPr/>
        </p:nvSpPr>
        <p:spPr>
          <a:xfrm>
            <a:off x="317547" y="3129777"/>
            <a:ext cx="11309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Key Insight:</a:t>
            </a:r>
          </a:p>
          <a:p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doctors in the dataset have contributed significantly, with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doctor having zero diagnoses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doctors handled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 40 to 60 diagnoses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a balanced workload across the medical staff.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few doctors, such as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Doctor_281 (75 cases)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Doctor_230 (70 cases)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managed higher volumes, suggesting greater patient preference, specialization demand, or seniority.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phic 5" descr="Target Audience outline">
            <a:extLst>
              <a:ext uri="{FF2B5EF4-FFF2-40B4-BE49-F238E27FC236}">
                <a16:creationId xmlns:a16="http://schemas.microsoft.com/office/drawing/2014/main" id="{0BB057B6-8DE0-51B5-B997-E958790B6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47" y="1984663"/>
            <a:ext cx="297873" cy="297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01F192-E620-28B5-8CE9-1CDC09260B0B}"/>
              </a:ext>
            </a:extLst>
          </p:cNvPr>
          <p:cNvSpPr txBox="1"/>
          <p:nvPr/>
        </p:nvSpPr>
        <p:spPr>
          <a:xfrm>
            <a:off x="317547" y="4942122"/>
            <a:ext cx="11309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Recommendation:</a:t>
            </a:r>
          </a:p>
          <a:p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Recognize and support high-performing doctors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managing heavier diagnosis loads to sustain motivation and avoid burnout.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Distribute cases more evenly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ensure optimal utilization of all medical staff.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Continuously monitor diagnosis volumes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inform staffing and resource planning decisions.</a:t>
            </a:r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B31EA109-3C01-AA71-09C8-8DC73F554B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547" y="5041164"/>
            <a:ext cx="273627" cy="2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84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4FE3-D606-6520-40CD-CD17E1FF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6F13-F58F-117E-71D7-5AF4F2E57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45" y="932673"/>
            <a:ext cx="11164409" cy="706582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4 – Identifying Mismatches Between Appointments and Diagnoses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A0D6A-2385-7D09-13E7-6B0DA60A6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47" y="1984663"/>
            <a:ext cx="11735908" cy="1087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Objective: 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identify mismatched or missing records between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Appointments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tables using a full outer join, ensuring data integrity in healthcare documentation.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7F2F3-26AF-D04C-5615-BBA76D324461}"/>
              </a:ext>
            </a:extLst>
          </p:cNvPr>
          <p:cNvSpPr txBox="1"/>
          <p:nvPr/>
        </p:nvSpPr>
        <p:spPr>
          <a:xfrm>
            <a:off x="317547" y="3263278"/>
            <a:ext cx="1130988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Key Insight:</a:t>
            </a:r>
          </a:p>
          <a:p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Volume of Unlinked Records: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large number of records exist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in either the Appointments or Diagnoses table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inconsistencies in data linkage.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Documentation Gaps: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presence of appointments without diagnoses and vice versa points to potential lapses in follow-up, data entry, or system syncing processes.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phic 5" descr="Target Audience outline">
            <a:extLst>
              <a:ext uri="{FF2B5EF4-FFF2-40B4-BE49-F238E27FC236}">
                <a16:creationId xmlns:a16="http://schemas.microsoft.com/office/drawing/2014/main" id="{D8E10501-31D6-69CB-46A4-9BCB5FF8A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47" y="1984663"/>
            <a:ext cx="297873" cy="297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AE5037-7EB8-B668-607F-186EE60C19FB}"/>
              </a:ext>
            </a:extLst>
          </p:cNvPr>
          <p:cNvSpPr txBox="1"/>
          <p:nvPr/>
        </p:nvSpPr>
        <p:spPr>
          <a:xfrm>
            <a:off x="317547" y="5101403"/>
            <a:ext cx="1130988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Recommendation:</a:t>
            </a:r>
          </a:p>
          <a:p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Data Validation Checks: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automated cross-verification between appointments and diagnoses to ensure every consultation is properly documented.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 and Rectify Historical Records: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 a thorough audit of unlinked entries to identify missing or outdated information and improve system integrity.</a:t>
            </a:r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81B8DA2B-E08C-559C-0DC4-34183B657B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547" y="5197028"/>
            <a:ext cx="273627" cy="2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46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A22AB-7F4D-CBF5-0D73-16898FF5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56FB-6299-E421-E91C-B53D6749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45" y="932673"/>
            <a:ext cx="11164409" cy="706582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5 – Top Patient per Doctor (By Appointment Count)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C7F8-24C1-E6B3-1A56-D7A48D66D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47" y="1984663"/>
            <a:ext cx="11735908" cy="1087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Objective: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identify the most frequently visiting patient for each doctor, ranked based on the number of appointments.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548D9-4CE8-6533-7F17-D20B6F49E114}"/>
              </a:ext>
            </a:extLst>
          </p:cNvPr>
          <p:cNvSpPr txBox="1"/>
          <p:nvPr/>
        </p:nvSpPr>
        <p:spPr>
          <a:xfrm>
            <a:off x="317547" y="3317139"/>
            <a:ext cx="113098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Key Insight: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few patients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than one appointment with the same doctor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recurring consultations.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ranking function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still helps highlight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few patients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repeatedly visit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same doctor.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phic 5" descr="Target Audience outline">
            <a:extLst>
              <a:ext uri="{FF2B5EF4-FFF2-40B4-BE49-F238E27FC236}">
                <a16:creationId xmlns:a16="http://schemas.microsoft.com/office/drawing/2014/main" id="{BAE7DE57-CB05-98C6-2CF8-C0EAB47B3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47" y="1984663"/>
            <a:ext cx="297873" cy="297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D56067-85DF-03B9-8B5B-79356CA1BCCC}"/>
              </a:ext>
            </a:extLst>
          </p:cNvPr>
          <p:cNvSpPr txBox="1"/>
          <p:nvPr/>
        </p:nvSpPr>
        <p:spPr>
          <a:xfrm>
            <a:off x="317547" y="5101403"/>
            <a:ext cx="114657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Recommendation: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multiple visits for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follow-up strategies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personalized care plans.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patients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consistent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consultations for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treatment continuity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A7EFE80F-1B75-CCE1-5AD6-76F588E5F0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547" y="5197028"/>
            <a:ext cx="273627" cy="2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0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1D431-398F-380E-90BC-05515BF7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1DD4-7932-83F5-E626-2F0486A51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45" y="932673"/>
            <a:ext cx="11164409" cy="7065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6 – 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AGE GROUP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D5E8E-D57E-DA16-4393-FE12362A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47" y="1984663"/>
            <a:ext cx="11735908" cy="1087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Objective: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categorize patients into defined age brackets and analyze the distribution for targeted care planning.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E1CD9-8D5B-7AAB-A746-6A99E68033FC}"/>
              </a:ext>
            </a:extLst>
          </p:cNvPr>
          <p:cNvSpPr txBox="1"/>
          <p:nvPr/>
        </p:nvSpPr>
        <p:spPr>
          <a:xfrm>
            <a:off x="317547" y="3071758"/>
            <a:ext cx="113098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Key Insight: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patients (2,684) are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aged 51 and above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greater need for elderly care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treatment support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aged 31–50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second-largest group (1,416)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followed by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younger adults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900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18–30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group).</a:t>
            </a:r>
          </a:p>
        </p:txBody>
      </p:sp>
      <p:pic>
        <p:nvPicPr>
          <p:cNvPr id="6" name="Graphic 5" descr="Target Audience outline">
            <a:extLst>
              <a:ext uri="{FF2B5EF4-FFF2-40B4-BE49-F238E27FC236}">
                <a16:creationId xmlns:a16="http://schemas.microsoft.com/office/drawing/2014/main" id="{774D4E92-B970-A50F-1A6D-4808FB4C4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47" y="1984663"/>
            <a:ext cx="297873" cy="297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539BFA-D331-EAB9-F158-419EC05D9159}"/>
              </a:ext>
            </a:extLst>
          </p:cNvPr>
          <p:cNvSpPr txBox="1"/>
          <p:nvPr/>
        </p:nvSpPr>
        <p:spPr>
          <a:xfrm>
            <a:off x="317547" y="5101403"/>
            <a:ext cx="113098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Recommendation: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 and specialists for elder care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as they form the bulk of patient population.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designing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age-specific health programs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particularly for the 31–50 segment, which represents a significant preventive care opportunity.</a:t>
            </a:r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610E75F6-F7F4-FF0D-05EE-67C5F91B62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547" y="5197028"/>
            <a:ext cx="273627" cy="2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43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47B8-92CE-E079-8CBD-1E455AACA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0D71A-B7C7-8235-27BB-0484CD986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45" y="932673"/>
            <a:ext cx="11164409" cy="706582"/>
          </a:xfrm>
        </p:spPr>
        <p:txBody>
          <a:bodyPr>
            <a:normAutofit/>
          </a:bodyPr>
          <a:lstStyle/>
          <a:p>
            <a:r>
              <a:rPr lang="en-US" sz="32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7 – Patients with Contact Numbers Ending in 1234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312CD-EC93-846A-4C6D-D26BD5BAB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47" y="1984663"/>
            <a:ext cx="11735908" cy="1087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Objective: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identify patients whose contact numbers end with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"1234"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display their names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uppercase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using string functions.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FDE40-C53C-0F46-584C-EF69C427B229}"/>
              </a:ext>
            </a:extLst>
          </p:cNvPr>
          <p:cNvSpPr txBox="1"/>
          <p:nvPr/>
        </p:nvSpPr>
        <p:spPr>
          <a:xfrm>
            <a:off x="317547" y="3317139"/>
            <a:ext cx="113098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Key Insight: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1 patient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a contact number ending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1234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this pattern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rare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query demonstrates how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UPPER()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used for formatting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precise suffix-based filtering. </a:t>
            </a:r>
          </a:p>
        </p:txBody>
      </p:sp>
      <p:pic>
        <p:nvPicPr>
          <p:cNvPr id="6" name="Graphic 5" descr="Target Audience outline">
            <a:extLst>
              <a:ext uri="{FF2B5EF4-FFF2-40B4-BE49-F238E27FC236}">
                <a16:creationId xmlns:a16="http://schemas.microsoft.com/office/drawing/2014/main" id="{9C5F28D5-4ABC-3315-A997-EC2FA3E27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47" y="1984663"/>
            <a:ext cx="297873" cy="297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970295-CA03-AE7B-D187-6C2D2CD01157}"/>
              </a:ext>
            </a:extLst>
          </p:cNvPr>
          <p:cNvSpPr txBox="1"/>
          <p:nvPr/>
        </p:nvSpPr>
        <p:spPr>
          <a:xfrm>
            <a:off x="317547" y="5101403"/>
            <a:ext cx="114657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Recommendation: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string functions +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patterns (LIKE,REPLACE) for targeted searches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formatting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contact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similar queries to identify other significant contact patterns or anomalies in contact numbers.</a:t>
            </a:r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BBF57BED-88D4-4A60-4BEF-1FFD7BE08A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547" y="5197028"/>
            <a:ext cx="273627" cy="2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41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5BC9-D952-7264-E660-E9BD6E39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7FEA8-52E9-E1A8-4943-9FC8A357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45" y="943064"/>
            <a:ext cx="11164409" cy="706582"/>
          </a:xfrm>
        </p:spPr>
        <p:txBody>
          <a:bodyPr>
            <a:noAutofit/>
          </a:bodyPr>
          <a:lstStyle/>
          <a:p>
            <a:r>
              <a:rPr lang="en-US" sz="2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8 – Find patients who have only been prescribed </a:t>
            </a:r>
            <a:r>
              <a:rPr lang="en-US" sz="2800" b="1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"Insulin"</a:t>
            </a:r>
            <a:r>
              <a:rPr lang="en-US" sz="2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any of their diagnoses.</a:t>
            </a:r>
            <a:endParaRPr lang="en-IN" sz="2800" spc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C467B-5C01-8971-84FC-57F820993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47" y="1984663"/>
            <a:ext cx="11735908" cy="1087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Objective: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patients who have only been prescribed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"Insulin"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all their diagnoses, using subqueries for precise filtering.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69694-1918-F1A9-0765-2E4E3F3DD2BC}"/>
              </a:ext>
            </a:extLst>
          </p:cNvPr>
          <p:cNvSpPr txBox="1"/>
          <p:nvPr/>
        </p:nvSpPr>
        <p:spPr>
          <a:xfrm>
            <a:off x="317547" y="3163251"/>
            <a:ext cx="1130988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Key Insight: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1,784 patients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been prescribed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Insulin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least once, indicating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diabetic population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requiring continuous care.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highlights the importance of insulin therapy as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treatment path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managing diabetes in this patient base.</a:t>
            </a:r>
          </a:p>
        </p:txBody>
      </p:sp>
      <p:pic>
        <p:nvPicPr>
          <p:cNvPr id="6" name="Graphic 5" descr="Target Audience outline">
            <a:extLst>
              <a:ext uri="{FF2B5EF4-FFF2-40B4-BE49-F238E27FC236}">
                <a16:creationId xmlns:a16="http://schemas.microsoft.com/office/drawing/2014/main" id="{67E7E8BE-A6C1-41A9-E7EF-38A361C71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47" y="1984663"/>
            <a:ext cx="297873" cy="297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190753-5B25-5E67-995A-4B5F30AEE166}"/>
              </a:ext>
            </a:extLst>
          </p:cNvPr>
          <p:cNvSpPr txBox="1"/>
          <p:nvPr/>
        </p:nvSpPr>
        <p:spPr>
          <a:xfrm>
            <a:off x="317547" y="4978293"/>
            <a:ext cx="11309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Recommendation: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dedicated insulin-patient program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reminders, follow-ups, and dose monitoring to improve adherence and outcomes.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insulin treatment with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lifestyle counseling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(diet, exercise) to reduce complications and slow disease progression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162615D2-A282-451C-EA73-9263887E7D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547" y="5061946"/>
            <a:ext cx="273627" cy="2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92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1D1AC-2451-1235-BB5B-61DB121A5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66BB-CFB8-08CE-1887-2D90FCEF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45" y="932673"/>
            <a:ext cx="11164409" cy="706582"/>
          </a:xfrm>
        </p:spPr>
        <p:txBody>
          <a:bodyPr>
            <a:normAutofit/>
          </a:bodyPr>
          <a:lstStyle/>
          <a:p>
            <a:r>
              <a:rPr lang="en-US" sz="32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9 – 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Medication Duration per Diagnosis</a:t>
            </a:r>
            <a:endParaRPr lang="en-IN" sz="3200" spc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9F8AB-42AF-B2A8-FE2C-86A7FD3C5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47" y="1984663"/>
            <a:ext cx="11735908" cy="1087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Objective: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determine the average number of days medications are prescribed for each diagnosis using date functions.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FF8418-421E-7BD8-76A6-96581812FAB3}"/>
              </a:ext>
            </a:extLst>
          </p:cNvPr>
          <p:cNvSpPr txBox="1"/>
          <p:nvPr/>
        </p:nvSpPr>
        <p:spPr>
          <a:xfrm>
            <a:off x="317547" y="2900258"/>
            <a:ext cx="1130988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Key Insight: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medication duration per diagnosis ranges widely, from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+1080 days down to -1077 days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both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therapies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entry errors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suggests that many patients are being treated for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chronic or long-duration conditions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 averages indicate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incorrect or inconsistent prescription dates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dataset (e.g., End Date earlier than Start Date).</a:t>
            </a:r>
          </a:p>
        </p:txBody>
      </p:sp>
      <p:pic>
        <p:nvPicPr>
          <p:cNvPr id="6" name="Graphic 5" descr="Target Audience outline">
            <a:extLst>
              <a:ext uri="{FF2B5EF4-FFF2-40B4-BE49-F238E27FC236}">
                <a16:creationId xmlns:a16="http://schemas.microsoft.com/office/drawing/2014/main" id="{DEBFA251-0C44-DE54-D291-FBD5A036F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47" y="1984663"/>
            <a:ext cx="297873" cy="297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51A528-CD91-9189-269C-72471A168717}"/>
              </a:ext>
            </a:extLst>
          </p:cNvPr>
          <p:cNvSpPr txBox="1"/>
          <p:nvPr/>
        </p:nvSpPr>
        <p:spPr>
          <a:xfrm>
            <a:off x="317547" y="4895313"/>
            <a:ext cx="1130988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Recommendation: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 and clean medication date entries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ensuring End Date is always after Start Date or NULL (for ongoing treatments).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Alongside data cleanup,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long-duration prescriptions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confirm they remain necessary and aligned with patient progress.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chronic disease support programs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as high-duration treatments point to long-standing conditions.</a:t>
            </a:r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545304D4-59BA-574F-AC51-11E1EE17C5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547" y="4978819"/>
            <a:ext cx="273627" cy="2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23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7F02E-A19B-FC24-AC2F-7E06E3CCF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E16C-9CC9-C624-B9B4-227ACF6A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45" y="932673"/>
            <a:ext cx="11164409" cy="706582"/>
          </a:xfrm>
        </p:spPr>
        <p:txBody>
          <a:bodyPr>
            <a:normAutofit/>
          </a:bodyPr>
          <a:lstStyle/>
          <a:p>
            <a:r>
              <a:rPr lang="en-US" sz="32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10 –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Doctor with the Most Unique Patients</a:t>
            </a:r>
            <a:endParaRPr lang="en-IN" sz="3200" spc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ADFF0-6CD9-03F6-1AA0-94677FDF6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47" y="1984663"/>
            <a:ext cx="11735908" cy="1087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Objective: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doctor who has treated the highest number of distinct patients, including their name, specialization, and patient count.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B2254-FAA1-88FE-5C97-6C69F3C4ADFD}"/>
              </a:ext>
            </a:extLst>
          </p:cNvPr>
          <p:cNvSpPr txBox="1"/>
          <p:nvPr/>
        </p:nvSpPr>
        <p:spPr>
          <a:xfrm>
            <a:off x="317547" y="3446969"/>
            <a:ext cx="1130988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Key Insight: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Doctor_37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Medicine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treated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 unique patients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highest in the dataset.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indicates a broad patient reach, suggesting strong trust and demand for their services.</a:t>
            </a:r>
          </a:p>
        </p:txBody>
      </p:sp>
      <p:pic>
        <p:nvPicPr>
          <p:cNvPr id="6" name="Graphic 5" descr="Target Audience outline">
            <a:extLst>
              <a:ext uri="{FF2B5EF4-FFF2-40B4-BE49-F238E27FC236}">
                <a16:creationId xmlns:a16="http://schemas.microsoft.com/office/drawing/2014/main" id="{13E20682-9580-C908-8466-43607A3CA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47" y="1984663"/>
            <a:ext cx="297873" cy="297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E8D52E-E761-D28B-698B-2BCD48624789}"/>
              </a:ext>
            </a:extLst>
          </p:cNvPr>
          <p:cNvSpPr txBox="1"/>
          <p:nvPr/>
        </p:nvSpPr>
        <p:spPr>
          <a:xfrm>
            <a:off x="317547" y="5053286"/>
            <a:ext cx="1130988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Recommendation:</a:t>
            </a:r>
          </a:p>
          <a:p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Doctor_37's expertise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patient engagement for training or mentoring other doctors.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workload balance to ensure patient care quality is maintained as demand grows.</a:t>
            </a:r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9DF5F8AA-1AE7-4535-51E9-61F180CEF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547" y="5160500"/>
            <a:ext cx="273627" cy="2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07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00ED-6724-FDB8-4BB6-C6DF025E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76744"/>
            <a:ext cx="10270790" cy="737755"/>
          </a:xfrm>
        </p:spPr>
        <p:txBody>
          <a:bodyPr/>
          <a:lstStyle/>
          <a:p>
            <a:r>
              <a:rPr lang="en-US" sz="32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</a:t>
            </a:r>
            <a:r>
              <a:rPr lang="en-US" dirty="0"/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– Healthcare Analytics with SQL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0CECF8-BD72-B372-DAB7-3844599621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278" y="2604974"/>
            <a:ext cx="11351443" cy="3276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appointments, diagnoses, and medications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uncover operational and clinical trends.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high-performing doctors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workload distribution, and specialization demands.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gaps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unmatched appointments and diagnoses for process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demographics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understand age-based care needs.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treatment durations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highlighting long-term prescriptions and chronic care focus.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SQL skills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joins, subqueries, CASE, string functions, window functions, and date functions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actionable insights.</a:t>
            </a:r>
          </a:p>
        </p:txBody>
      </p:sp>
    </p:spTree>
    <p:extLst>
      <p:ext uri="{BB962C8B-B14F-4D97-AF65-F5344CB8AC3E}">
        <p14:creationId xmlns:p14="http://schemas.microsoft.com/office/powerpoint/2010/main" val="2027111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">
            <a:extLst>
              <a:ext uri="{FF2B5EF4-FFF2-40B4-BE49-F238E27FC236}">
                <a16:creationId xmlns:a16="http://schemas.microsoft.com/office/drawing/2014/main" id="{E456872D-477C-DCB9-72EC-6FA13B6ED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214" y="1019982"/>
            <a:ext cx="7803572" cy="481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70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12820</TotalTime>
  <Words>1424</Words>
  <Application>Microsoft Office PowerPoint</Application>
  <PresentationFormat>Widescreen</PresentationFormat>
  <Paragraphs>143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Tw Cen MT</vt:lpstr>
      <vt:lpstr>Tw Cen MT Condensed</vt:lpstr>
      <vt:lpstr>Wingdings 3</vt:lpstr>
      <vt:lpstr>Integral</vt:lpstr>
      <vt:lpstr>Healthcare Analytics  </vt:lpstr>
      <vt:lpstr>Project Roadmap</vt:lpstr>
      <vt:lpstr>Task 1 – Completed Appointments Overview</vt:lpstr>
      <vt:lpstr>Task 2 – PATIENTS WITHOUT APPOINTMENTS</vt:lpstr>
      <vt:lpstr>Task 3 – DOCTOR-WISE DIAGNOSIS ANALYSIS</vt:lpstr>
      <vt:lpstr>Task 4 – Identifying Mismatches Between Appointments and Diagnoses</vt:lpstr>
      <vt:lpstr>Task 5 – Top Patient per Doctor (By Appointment Count)</vt:lpstr>
      <vt:lpstr>Task 6 – PATIENT AGE GROUP DISTRIBUTION</vt:lpstr>
      <vt:lpstr>Task 7 – Patients with Contact Numbers Ending in 1234</vt:lpstr>
      <vt:lpstr>Task 8 – Find patients who have only been prescribed "Insulin" in any of their diagnoses.</vt:lpstr>
      <vt:lpstr>Task 9 – Average Medication Duration per Diagnosis</vt:lpstr>
      <vt:lpstr>Task 10 – Doctor with the Most Unique Patients</vt:lpstr>
      <vt:lpstr>Project Summary – Healthcare Analytics with SQL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MALHOTRA</dc:creator>
  <cp:lastModifiedBy>DHRUV MALHOTRA</cp:lastModifiedBy>
  <cp:revision>9</cp:revision>
  <dcterms:created xsi:type="dcterms:W3CDTF">2025-08-03T15:44:00Z</dcterms:created>
  <dcterms:modified xsi:type="dcterms:W3CDTF">2025-08-22T19:39:35Z</dcterms:modified>
</cp:coreProperties>
</file>